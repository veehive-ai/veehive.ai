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A52C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201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Veehive.ai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0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AI Workforce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2700">
            <a:solidFill>
              <a:srgbClr val="E0E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2C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product is an AI employee — built to do one job exceptionally well.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115568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8F8FC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115568"/>
            <a:ext cx="45720" cy="74980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358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11612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Studio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15568" y="13716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AI Video Producer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15568" y="15544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Turns docs into branded videos  •  veehivestudio.com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65760" y="1938528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8F8FC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5760" y="1938528"/>
            <a:ext cx="45720" cy="749808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66544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1984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SnapaPro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15568" y="2194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AI Project Manager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15568" y="2377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Plans, assigns &amp; tracks work  •  snapapro.com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65760" y="2761488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8F8FC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5760" y="2761488"/>
            <a:ext cx="45720" cy="749808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9504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2807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mpliphi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15568" y="3017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AI Sales Rep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5568" y="3200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Handles customer conversations 24/7  •  mpliphi.com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365760" y="3584448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8F8FC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65760" y="3584448"/>
            <a:ext cx="45720" cy="74980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12464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15568" y="36301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HiveLink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115568" y="38404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AI Marketing Manager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15568" y="4023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Distributes, schedules &amp; engages  •  veehivelink.com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4709160" y="1115568"/>
            <a:ext cx="4069080" cy="1554480"/>
          </a:xfrm>
          <a:prstGeom prst="roundRect">
            <a:avLst>
              <a:gd name="adj" fmla="val 3529"/>
            </a:avLst>
          </a:prstGeom>
          <a:solidFill>
            <a:srgbClr val="F8F8FC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709160" y="1115568"/>
            <a:ext cx="45720" cy="1554480"/>
          </a:xfrm>
          <a:prstGeom prst="rect">
            <a:avLst/>
          </a:prstGeom>
          <a:solidFill>
            <a:srgbClr val="E8BB30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1252728"/>
            <a:ext cx="475488" cy="4754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550408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VeehiveLabs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5550408" y="14447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B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AI Engineering Partner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550408" y="16184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Builds custom AI systems for your business  •  veehivelabs.com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4818888" y="1938528"/>
            <a:ext cx="3849624" cy="0"/>
          </a:xfrm>
          <a:prstGeom prst="line">
            <a:avLst/>
          </a:prstGeom>
          <a:noFill/>
          <a:ln w="6350">
            <a:solidFill>
              <a:srgbClr val="E0E0E8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818888" y="20299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B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5056632" y="2029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Product Dev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6117336" y="20299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B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6355080" y="2029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Consulting</a:t>
            </a: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7415784" y="20299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B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7653528" y="2029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Augmentation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4709160" y="23500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BB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$25K–$200K+  •  8–12 Week Delivery  •  SMB to Enterprise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4709160" y="2807208"/>
            <a:ext cx="4069080" cy="1691640"/>
          </a:xfrm>
          <a:prstGeom prst="roundRect">
            <a:avLst>
              <a:gd name="adj" fmla="val 3243"/>
            </a:avLst>
          </a:prstGeom>
          <a:solidFill>
            <a:srgbClr val="FAFAFE"/>
          </a:solidFill>
          <a:ln w="6350">
            <a:solidFill>
              <a:srgbClr val="E0E0E8"/>
            </a:solidFill>
            <a:prstDash val="dash"/>
          </a:ln>
        </p:spPr>
      </p:sp>
      <p:sp>
        <p:nvSpPr>
          <p:cNvPr id="47" name="Text 39"/>
          <p:cNvSpPr/>
          <p:nvPr/>
        </p:nvSpPr>
        <p:spPr>
          <a:xfrm>
            <a:off x="4709160" y="294436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52C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Hire Your AI Workforce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product per role. Scale without headcount.</a:t>
            </a:r>
            <a:endParaRPr lang="en-US" sz="1500" dirty="0"/>
          </a:p>
        </p:txBody>
      </p:sp>
      <p:sp>
        <p:nvSpPr>
          <p:cNvPr id="48" name="Text 40"/>
          <p:cNvSpPr/>
          <p:nvPr/>
        </p:nvSpPr>
        <p:spPr>
          <a:xfrm>
            <a:off x="5074920" y="3584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Studio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6126480" y="35844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6400800" y="35844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Video Producer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5074920" y="3794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SnapaPro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612648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6400800" y="3794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Project Manager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5074920" y="4005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mpliphi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6126480" y="4005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6400800" y="4005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Sales Rep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5074920" y="42153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HiveLink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6126480" y="42153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900" dirty="0"/>
          </a:p>
        </p:txBody>
      </p:sp>
      <p:sp>
        <p:nvSpPr>
          <p:cNvPr id="59" name="Text 51"/>
          <p:cNvSpPr/>
          <p:nvPr/>
        </p:nvSpPr>
        <p:spPr>
          <a:xfrm>
            <a:off x="6400800" y="4215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Marketing Manager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12700">
            <a:solidFill>
              <a:srgbClr val="E0E0E8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0" y="4773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B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Dubai AI Seal Certified  •  SOC 2 Controls  •  ISO 27001 Aligned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A52C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201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Veehive.ai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0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Structure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2700">
            <a:solidFill>
              <a:srgbClr val="E0E0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96012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CURRENT TEAM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164592" cy="164592"/>
          </a:xfrm>
          <a:prstGeom prst="ellipse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16916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49808" y="1664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Sathish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05740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HIRING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57200" y="2258568"/>
            <a:ext cx="26060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66928" y="2304288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&amp; Marketing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2551176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Fractional via ARKA co-sell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299008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CHANNELS &amp; PARTNERS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57200" y="3191256"/>
            <a:ext cx="2606040" cy="923544"/>
          </a:xfrm>
          <a:prstGeom prst="roundRect">
            <a:avLst>
              <a:gd name="adj" fmla="val 4950"/>
            </a:avLst>
          </a:prstGeom>
          <a:solidFill>
            <a:srgbClr val="F8F8FC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3218688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Partnership with ARKA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6928" y="3438144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Re-Kindle Lenovo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6928" y="365760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Nvidia, Presights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" y="3877056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Crayon Data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00400" y="96012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16A34A"/>
          </a:solidFill>
          <a:ln/>
        </p:spPr>
      </p:sp>
      <p:sp>
        <p:nvSpPr>
          <p:cNvPr id="24" name="Text 21"/>
          <p:cNvSpPr/>
          <p:nvPr/>
        </p:nvSpPr>
        <p:spPr>
          <a:xfrm>
            <a:off x="320040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Domain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200400" y="14630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CURRENT TEAM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246120" y="1691640"/>
            <a:ext cx="164592" cy="164592"/>
          </a:xfrm>
          <a:prstGeom prst="ellipse">
            <a:avLst/>
          </a:prstGeom>
          <a:solidFill>
            <a:srgbClr val="16A34A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3246120" y="16916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493008" y="1664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Taj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46120" y="1947672"/>
            <a:ext cx="164592" cy="164592"/>
          </a:xfrm>
          <a:prstGeom prst="ellipse">
            <a:avLst/>
          </a:prstGeom>
          <a:solidFill>
            <a:srgbClr val="16A34A">
              <a:alpha val="2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3246120" y="1947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493008" y="19202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Sathish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200400" y="23134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HIRING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200400" y="2514600"/>
            <a:ext cx="26060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dash"/>
          </a:ln>
        </p:spPr>
      </p:sp>
      <p:sp>
        <p:nvSpPr>
          <p:cNvPr id="34" name="Text 31"/>
          <p:cNvSpPr/>
          <p:nvPr/>
        </p:nvSpPr>
        <p:spPr>
          <a:xfrm>
            <a:off x="3310128" y="2560320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Domain Expert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310128" y="2807208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roadmap &amp; customer feedback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200400" y="32461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CHANNELS &amp; PARTNERS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3200400" y="3447288"/>
            <a:ext cx="2606040" cy="704088"/>
          </a:xfrm>
          <a:prstGeom prst="roundRect">
            <a:avLst>
              <a:gd name="adj" fmla="val 6494"/>
            </a:avLst>
          </a:prstGeom>
          <a:solidFill>
            <a:srgbClr val="F8F8FC"/>
          </a:solidFill>
          <a:ln/>
        </p:spPr>
      </p:sp>
      <p:sp>
        <p:nvSpPr>
          <p:cNvPr id="38" name="Text 35"/>
          <p:cNvSpPr/>
          <p:nvPr/>
        </p:nvSpPr>
        <p:spPr>
          <a:xfrm>
            <a:off x="3310128" y="347472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Freshworks, Zoho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310128" y="3694176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SMBs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310128" y="391363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Enterprise clients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943600" y="96012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943600" y="14630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CURRENT TEAM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989320" y="1691640"/>
            <a:ext cx="164592" cy="164592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5989320" y="16916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236208" y="1664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Chakir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989320" y="1947672"/>
            <a:ext cx="164592" cy="164592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5989320" y="1947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236208" y="19202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Sathish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943600" y="23134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HIRING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5943600" y="2514600"/>
            <a:ext cx="26060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dash"/>
          </a:ln>
        </p:spPr>
      </p:sp>
      <p:sp>
        <p:nvSpPr>
          <p:cNvPr id="52" name="Text 49"/>
          <p:cNvSpPr/>
          <p:nvPr/>
        </p:nvSpPr>
        <p:spPr>
          <a:xfrm>
            <a:off x="6053328" y="2560320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AI Native Engineers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053328" y="2807208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Full-stack AI product development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5943600" y="32461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CHANNELS &amp; PARTNERS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5943600" y="3447288"/>
            <a:ext cx="2606040" cy="704088"/>
          </a:xfrm>
          <a:prstGeom prst="roundRect">
            <a:avLst>
              <a:gd name="adj" fmla="val 6494"/>
            </a:avLst>
          </a:prstGeom>
          <a:solidFill>
            <a:srgbClr val="F8F8FC"/>
          </a:solidFill>
          <a:ln/>
        </p:spPr>
      </p:sp>
      <p:sp>
        <p:nvSpPr>
          <p:cNvPr id="56" name="Text 53"/>
          <p:cNvSpPr/>
          <p:nvPr/>
        </p:nvSpPr>
        <p:spPr>
          <a:xfrm>
            <a:off x="6053328" y="347472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AI Native Engineers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6053328" y="3694176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Cloud-native stack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053328" y="391363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AI/ML pipeline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12700">
            <a:solidFill>
              <a:srgbClr val="E0E0E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0" y="4773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B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Dubai AI Seal Certified  •  SOC 2 Controls  •  ISO 27001 Aligned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A52C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201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Veehive.ai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0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Roadmap 2026–2027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2700">
            <a:solidFill>
              <a:srgbClr val="E0E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7772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2C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Deploying your AI workforce — from beta to full production.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45920" y="1307592"/>
            <a:ext cx="7040880" cy="0"/>
          </a:xfrm>
          <a:prstGeom prst="line">
            <a:avLst/>
          </a:prstGeom>
          <a:noFill/>
          <a:ln w="25400">
            <a:solidFill>
              <a:srgbClr val="CCCC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0" y="1252728"/>
            <a:ext cx="0" cy="109728"/>
          </a:xfrm>
          <a:prstGeom prst="line">
            <a:avLst/>
          </a:prstGeom>
          <a:noFill/>
          <a:ln w="12700">
            <a:solidFill>
              <a:srgbClr val="AAAA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Q3 '26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1430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NOW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054096" y="1252728"/>
            <a:ext cx="0" cy="109728"/>
          </a:xfrm>
          <a:prstGeom prst="line">
            <a:avLst/>
          </a:prstGeom>
          <a:noFill/>
          <a:ln w="12700">
            <a:solidFill>
              <a:srgbClr val="AAAA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88336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Q4 '26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734056" y="11430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462272" y="1252728"/>
            <a:ext cx="0" cy="109728"/>
          </a:xfrm>
          <a:prstGeom prst="line">
            <a:avLst/>
          </a:prstGeom>
          <a:noFill/>
          <a:ln w="12700">
            <a:solidFill>
              <a:srgbClr val="AAAA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96512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Q1 '27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518404" y="1252728"/>
            <a:ext cx="0" cy="109728"/>
          </a:xfrm>
          <a:prstGeom prst="line">
            <a:avLst/>
          </a:prstGeom>
          <a:noFill/>
          <a:ln w="12700">
            <a:solidFill>
              <a:srgbClr val="AAAAB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52644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'27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574536" y="1252728"/>
            <a:ext cx="0" cy="109728"/>
          </a:xfrm>
          <a:prstGeom prst="line">
            <a:avLst/>
          </a:prstGeom>
          <a:noFill/>
          <a:ln w="12700">
            <a:solidFill>
              <a:srgbClr val="AAAAB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Q3 '27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630668" y="1252728"/>
            <a:ext cx="0" cy="109728"/>
          </a:xfrm>
          <a:prstGeom prst="line">
            <a:avLst/>
          </a:prstGeom>
          <a:noFill/>
          <a:ln w="12700">
            <a:solidFill>
              <a:srgbClr val="AAAAB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64908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Q4 '27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310628" y="11430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8686800" y="1252728"/>
            <a:ext cx="0" cy="109728"/>
          </a:xfrm>
          <a:prstGeom prst="line">
            <a:avLst/>
          </a:prstGeom>
          <a:noFill/>
          <a:ln w="12700">
            <a:solidFill>
              <a:srgbClr val="AAAAB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21040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2028+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74320" y="1563624"/>
            <a:ext cx="8595360" cy="621792"/>
          </a:xfrm>
          <a:prstGeom prst="rect">
            <a:avLst/>
          </a:prstGeom>
          <a:solidFill>
            <a:srgbClr val="F8F8FC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55064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77240" y="1609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SnapaPro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777240" y="18105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Project Manager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1645920" y="1673352"/>
            <a:ext cx="1408176" cy="320040"/>
          </a:xfrm>
          <a:prstGeom prst="roundRect">
            <a:avLst>
              <a:gd name="adj" fmla="val 11429"/>
            </a:avLst>
          </a:prstGeom>
          <a:solidFill>
            <a:srgbClr val="DC2626">
              <a:alpha val="30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1700784" y="16733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Alpha &amp; Beta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3054096" y="1673352"/>
            <a:ext cx="1056132" cy="320040"/>
          </a:xfrm>
          <a:prstGeom prst="roundRect">
            <a:avLst>
              <a:gd name="adj" fmla="val 11429"/>
            </a:avLst>
          </a:prstGeom>
          <a:solidFill>
            <a:srgbClr val="DC2626">
              <a:alpha val="6000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3108960" y="1673352"/>
            <a:ext cx="94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 Live</a:t>
            </a:r>
            <a:endParaRPr lang="en-US" sz="700" dirty="0"/>
          </a:p>
        </p:txBody>
      </p:sp>
      <p:sp>
        <p:nvSpPr>
          <p:cNvPr id="34" name="Shape 30"/>
          <p:cNvSpPr/>
          <p:nvPr/>
        </p:nvSpPr>
        <p:spPr>
          <a:xfrm>
            <a:off x="4110228" y="1673352"/>
            <a:ext cx="3520440" cy="320040"/>
          </a:xfrm>
          <a:prstGeom prst="roundRect">
            <a:avLst>
              <a:gd name="adj" fmla="val 11429"/>
            </a:avLst>
          </a:prstGeom>
          <a:solidFill>
            <a:srgbClr val="DC2626">
              <a:alpha val="8500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4165092" y="1673352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 Rollout + GTM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7630668" y="1673352"/>
            <a:ext cx="1056132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/>
        </p:spPr>
      </p:sp>
      <p:sp>
        <p:nvSpPr>
          <p:cNvPr id="37" name="Text 33"/>
          <p:cNvSpPr/>
          <p:nvPr/>
        </p:nvSpPr>
        <p:spPr>
          <a:xfrm>
            <a:off x="7685532" y="1673352"/>
            <a:ext cx="94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</a:t>
            </a:r>
            <a:endParaRPr lang="en-US" sz="7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322576"/>
            <a:ext cx="347472" cy="34747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77240" y="2276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Studio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777240" y="24780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Video Producer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1645920" y="2340864"/>
            <a:ext cx="1408176" cy="320040"/>
          </a:xfrm>
          <a:prstGeom prst="roundRect">
            <a:avLst>
              <a:gd name="adj" fmla="val 11429"/>
            </a:avLst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2" name="Text 37"/>
          <p:cNvSpPr/>
          <p:nvPr/>
        </p:nvSpPr>
        <p:spPr>
          <a:xfrm>
            <a:off x="1700784" y="2340864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Alpha &amp; Beta</a:t>
            </a:r>
            <a:endParaRPr lang="en-US" sz="700" dirty="0"/>
          </a:p>
        </p:txBody>
      </p:sp>
      <p:sp>
        <p:nvSpPr>
          <p:cNvPr id="43" name="Shape 38"/>
          <p:cNvSpPr/>
          <p:nvPr/>
        </p:nvSpPr>
        <p:spPr>
          <a:xfrm>
            <a:off x="3054096" y="2340864"/>
            <a:ext cx="1056132" cy="320040"/>
          </a:xfrm>
          <a:prstGeom prst="roundRect">
            <a:avLst>
              <a:gd name="adj" fmla="val 11429"/>
            </a:avLst>
          </a:prstGeom>
          <a:solidFill>
            <a:srgbClr val="7C3AED">
              <a:alpha val="60000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3108960" y="2340864"/>
            <a:ext cx="94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 Live</a:t>
            </a:r>
            <a:endParaRPr lang="en-US" sz="700" dirty="0"/>
          </a:p>
        </p:txBody>
      </p:sp>
      <p:sp>
        <p:nvSpPr>
          <p:cNvPr id="45" name="Shape 40"/>
          <p:cNvSpPr/>
          <p:nvPr/>
        </p:nvSpPr>
        <p:spPr>
          <a:xfrm>
            <a:off x="4110228" y="2340864"/>
            <a:ext cx="3520440" cy="320040"/>
          </a:xfrm>
          <a:prstGeom prst="roundRect">
            <a:avLst>
              <a:gd name="adj" fmla="val 11429"/>
            </a:avLst>
          </a:prstGeom>
          <a:solidFill>
            <a:srgbClr val="7C3AED">
              <a:alpha val="85000"/>
            </a:srgbClr>
          </a:solidFill>
          <a:ln/>
        </p:spPr>
      </p:sp>
      <p:sp>
        <p:nvSpPr>
          <p:cNvPr id="46" name="Text 41"/>
          <p:cNvSpPr/>
          <p:nvPr/>
        </p:nvSpPr>
        <p:spPr>
          <a:xfrm>
            <a:off x="4165092" y="2340864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 Rollout + GTM</a:t>
            </a:r>
            <a:endParaRPr lang="en-US" sz="700" dirty="0"/>
          </a:p>
        </p:txBody>
      </p:sp>
      <p:sp>
        <p:nvSpPr>
          <p:cNvPr id="47" name="Shape 42"/>
          <p:cNvSpPr/>
          <p:nvPr/>
        </p:nvSpPr>
        <p:spPr>
          <a:xfrm>
            <a:off x="7630668" y="2340864"/>
            <a:ext cx="1056132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48" name="Text 43"/>
          <p:cNvSpPr/>
          <p:nvPr/>
        </p:nvSpPr>
        <p:spPr>
          <a:xfrm>
            <a:off x="7685532" y="2340864"/>
            <a:ext cx="94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</a:t>
            </a:r>
            <a:endParaRPr lang="en-US" sz="700" dirty="0"/>
          </a:p>
        </p:txBody>
      </p:sp>
      <p:sp>
        <p:nvSpPr>
          <p:cNvPr id="49" name="Shape 44"/>
          <p:cNvSpPr/>
          <p:nvPr/>
        </p:nvSpPr>
        <p:spPr>
          <a:xfrm>
            <a:off x="274320" y="2898648"/>
            <a:ext cx="8595360" cy="621792"/>
          </a:xfrm>
          <a:prstGeom prst="rect">
            <a:avLst/>
          </a:prstGeom>
          <a:solidFill>
            <a:srgbClr val="F8F8FC"/>
          </a:solidFill>
          <a:ln/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990088"/>
            <a:ext cx="347472" cy="347472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777240" y="2944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mpliphi</a:t>
            </a:r>
            <a:endParaRPr lang="en-US" sz="950" dirty="0"/>
          </a:p>
        </p:txBody>
      </p:sp>
      <p:sp>
        <p:nvSpPr>
          <p:cNvPr id="52" name="Text 46"/>
          <p:cNvSpPr/>
          <p:nvPr/>
        </p:nvSpPr>
        <p:spPr>
          <a:xfrm>
            <a:off x="777240" y="31455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Sales Rep</a:t>
            </a:r>
            <a:endParaRPr lang="en-US" sz="700" dirty="0"/>
          </a:p>
        </p:txBody>
      </p:sp>
      <p:sp>
        <p:nvSpPr>
          <p:cNvPr id="53" name="Shape 47"/>
          <p:cNvSpPr/>
          <p:nvPr/>
        </p:nvSpPr>
        <p:spPr>
          <a:xfrm>
            <a:off x="1645920" y="3008376"/>
            <a:ext cx="1408176" cy="320040"/>
          </a:xfrm>
          <a:prstGeom prst="roundRect">
            <a:avLst>
              <a:gd name="adj" fmla="val 11429"/>
            </a:avLst>
          </a:prstGeom>
          <a:solidFill>
            <a:srgbClr val="16A34A">
              <a:alpha val="30000"/>
            </a:srgbClr>
          </a:solidFill>
          <a:ln/>
        </p:spPr>
      </p:sp>
      <p:sp>
        <p:nvSpPr>
          <p:cNvPr id="54" name="Text 48"/>
          <p:cNvSpPr/>
          <p:nvPr/>
        </p:nvSpPr>
        <p:spPr>
          <a:xfrm>
            <a:off x="1700784" y="300837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Alpha &amp; Beta</a:t>
            </a:r>
            <a:endParaRPr lang="en-US" sz="700" dirty="0"/>
          </a:p>
        </p:txBody>
      </p:sp>
      <p:sp>
        <p:nvSpPr>
          <p:cNvPr id="55" name="Shape 49"/>
          <p:cNvSpPr/>
          <p:nvPr/>
        </p:nvSpPr>
        <p:spPr>
          <a:xfrm>
            <a:off x="3054096" y="3008376"/>
            <a:ext cx="1056132" cy="320040"/>
          </a:xfrm>
          <a:prstGeom prst="roundRect">
            <a:avLst>
              <a:gd name="adj" fmla="val 11429"/>
            </a:avLst>
          </a:prstGeom>
          <a:solidFill>
            <a:srgbClr val="16A34A">
              <a:alpha val="60000"/>
            </a:srgbClr>
          </a:solidFill>
          <a:ln/>
        </p:spPr>
      </p:sp>
      <p:sp>
        <p:nvSpPr>
          <p:cNvPr id="56" name="Text 50"/>
          <p:cNvSpPr/>
          <p:nvPr/>
        </p:nvSpPr>
        <p:spPr>
          <a:xfrm>
            <a:off x="3108960" y="3008376"/>
            <a:ext cx="94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 Live</a:t>
            </a:r>
            <a:endParaRPr lang="en-US" sz="700" dirty="0"/>
          </a:p>
        </p:txBody>
      </p:sp>
      <p:sp>
        <p:nvSpPr>
          <p:cNvPr id="57" name="Shape 51"/>
          <p:cNvSpPr/>
          <p:nvPr/>
        </p:nvSpPr>
        <p:spPr>
          <a:xfrm>
            <a:off x="4110228" y="3008376"/>
            <a:ext cx="3520440" cy="320040"/>
          </a:xfrm>
          <a:prstGeom prst="roundRect">
            <a:avLst>
              <a:gd name="adj" fmla="val 11429"/>
            </a:avLst>
          </a:prstGeom>
          <a:solidFill>
            <a:srgbClr val="16A34A">
              <a:alpha val="85000"/>
            </a:srgbClr>
          </a:solidFill>
          <a:ln/>
        </p:spPr>
      </p:sp>
      <p:sp>
        <p:nvSpPr>
          <p:cNvPr id="58" name="Text 52"/>
          <p:cNvSpPr/>
          <p:nvPr/>
        </p:nvSpPr>
        <p:spPr>
          <a:xfrm>
            <a:off x="4165092" y="3008376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 Rollout + GTM</a:t>
            </a:r>
            <a:endParaRPr lang="en-US" sz="700" dirty="0"/>
          </a:p>
        </p:txBody>
      </p:sp>
      <p:sp>
        <p:nvSpPr>
          <p:cNvPr id="59" name="Shape 53"/>
          <p:cNvSpPr/>
          <p:nvPr/>
        </p:nvSpPr>
        <p:spPr>
          <a:xfrm>
            <a:off x="7630668" y="3008376"/>
            <a:ext cx="1056132" cy="320040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/>
        </p:spPr>
      </p:sp>
      <p:sp>
        <p:nvSpPr>
          <p:cNvPr id="60" name="Text 54"/>
          <p:cNvSpPr/>
          <p:nvPr/>
        </p:nvSpPr>
        <p:spPr>
          <a:xfrm>
            <a:off x="7685532" y="3008376"/>
            <a:ext cx="94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</a:t>
            </a:r>
            <a:endParaRPr lang="en-US" sz="700" dirty="0"/>
          </a:p>
        </p:txBody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657600"/>
            <a:ext cx="347472" cy="347472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777240" y="3611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HiveLink</a:t>
            </a:r>
            <a:endParaRPr lang="en-US" sz="950" dirty="0"/>
          </a:p>
        </p:txBody>
      </p:sp>
      <p:sp>
        <p:nvSpPr>
          <p:cNvPr id="63" name="Text 56"/>
          <p:cNvSpPr/>
          <p:nvPr/>
        </p:nvSpPr>
        <p:spPr>
          <a:xfrm>
            <a:off x="777240" y="38130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Marketing Manager</a:t>
            </a:r>
            <a:endParaRPr lang="en-US" sz="700" dirty="0"/>
          </a:p>
        </p:txBody>
      </p:sp>
      <p:sp>
        <p:nvSpPr>
          <p:cNvPr id="64" name="Shape 57"/>
          <p:cNvSpPr/>
          <p:nvPr/>
        </p:nvSpPr>
        <p:spPr>
          <a:xfrm>
            <a:off x="1645920" y="3675888"/>
            <a:ext cx="1408176" cy="320040"/>
          </a:xfrm>
          <a:prstGeom prst="roundRect">
            <a:avLst>
              <a:gd name="adj" fmla="val 11429"/>
            </a:avLst>
          </a:prstGeom>
          <a:solidFill>
            <a:srgbClr val="2563EB">
              <a:alpha val="25000"/>
            </a:srgbClr>
          </a:solidFill>
          <a:ln/>
        </p:spPr>
      </p:sp>
      <p:sp>
        <p:nvSpPr>
          <p:cNvPr id="65" name="Text 58"/>
          <p:cNvSpPr/>
          <p:nvPr/>
        </p:nvSpPr>
        <p:spPr>
          <a:xfrm>
            <a:off x="1700784" y="367588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</a:t>
            </a:r>
            <a:endParaRPr lang="en-US" sz="700" dirty="0"/>
          </a:p>
        </p:txBody>
      </p:sp>
      <p:sp>
        <p:nvSpPr>
          <p:cNvPr id="66" name="Shape 59"/>
          <p:cNvSpPr/>
          <p:nvPr/>
        </p:nvSpPr>
        <p:spPr>
          <a:xfrm>
            <a:off x="3054096" y="3675888"/>
            <a:ext cx="1408176" cy="320040"/>
          </a:xfrm>
          <a:prstGeom prst="roundRect">
            <a:avLst>
              <a:gd name="adj" fmla="val 11429"/>
            </a:avLst>
          </a:prstGeom>
          <a:solidFill>
            <a:srgbClr val="2563EB">
              <a:alpha val="55000"/>
            </a:srgbClr>
          </a:solidFill>
          <a:ln/>
        </p:spPr>
      </p:sp>
      <p:sp>
        <p:nvSpPr>
          <p:cNvPr id="67" name="Text 60"/>
          <p:cNvSpPr/>
          <p:nvPr/>
        </p:nvSpPr>
        <p:spPr>
          <a:xfrm>
            <a:off x="3108960" y="367588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 Live</a:t>
            </a:r>
            <a:endParaRPr lang="en-US" sz="700" dirty="0"/>
          </a:p>
        </p:txBody>
      </p:sp>
      <p:sp>
        <p:nvSpPr>
          <p:cNvPr id="68" name="Shape 61"/>
          <p:cNvSpPr/>
          <p:nvPr/>
        </p:nvSpPr>
        <p:spPr>
          <a:xfrm>
            <a:off x="4462272" y="3675888"/>
            <a:ext cx="3168396" cy="320040"/>
          </a:xfrm>
          <a:prstGeom prst="roundRect">
            <a:avLst>
              <a:gd name="adj" fmla="val 11429"/>
            </a:avLst>
          </a:prstGeom>
          <a:solidFill>
            <a:srgbClr val="2563EB">
              <a:alpha val="85000"/>
            </a:srgbClr>
          </a:solidFill>
          <a:ln/>
        </p:spPr>
      </p:sp>
      <p:sp>
        <p:nvSpPr>
          <p:cNvPr id="69" name="Text 62"/>
          <p:cNvSpPr/>
          <p:nvPr/>
        </p:nvSpPr>
        <p:spPr>
          <a:xfrm>
            <a:off x="4517136" y="3675888"/>
            <a:ext cx="3058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 Rollout + GTM</a:t>
            </a:r>
            <a:endParaRPr lang="en-US" sz="700" dirty="0"/>
          </a:p>
        </p:txBody>
      </p:sp>
      <p:sp>
        <p:nvSpPr>
          <p:cNvPr id="70" name="Shape 63"/>
          <p:cNvSpPr/>
          <p:nvPr/>
        </p:nvSpPr>
        <p:spPr>
          <a:xfrm>
            <a:off x="7630668" y="3675888"/>
            <a:ext cx="1056132" cy="32004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71" name="Text 64"/>
          <p:cNvSpPr/>
          <p:nvPr/>
        </p:nvSpPr>
        <p:spPr>
          <a:xfrm>
            <a:off x="7685532" y="3675888"/>
            <a:ext cx="946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</a:t>
            </a:r>
            <a:endParaRPr lang="en-US" sz="700" dirty="0"/>
          </a:p>
        </p:txBody>
      </p:sp>
      <p:sp>
        <p:nvSpPr>
          <p:cNvPr id="72" name="Shape 65"/>
          <p:cNvSpPr/>
          <p:nvPr/>
        </p:nvSpPr>
        <p:spPr>
          <a:xfrm>
            <a:off x="274320" y="4233672"/>
            <a:ext cx="8595360" cy="621792"/>
          </a:xfrm>
          <a:prstGeom prst="rect">
            <a:avLst/>
          </a:prstGeom>
          <a:solidFill>
            <a:srgbClr val="F8F8FC"/>
          </a:solidFill>
          <a:ln/>
        </p:spPr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4325112"/>
            <a:ext cx="347472" cy="347472"/>
          </a:xfrm>
          <a:prstGeom prst="rect">
            <a:avLst/>
          </a:prstGeom>
        </p:spPr>
      </p:pic>
      <p:sp>
        <p:nvSpPr>
          <p:cNvPr id="74" name="Text 66"/>
          <p:cNvSpPr/>
          <p:nvPr/>
        </p:nvSpPr>
        <p:spPr>
          <a:xfrm>
            <a:off x="777240" y="4279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VeehiveLabs</a:t>
            </a:r>
            <a:endParaRPr lang="en-US" sz="950" dirty="0"/>
          </a:p>
        </p:txBody>
      </p:sp>
      <p:sp>
        <p:nvSpPr>
          <p:cNvPr id="75" name="Text 67"/>
          <p:cNvSpPr/>
          <p:nvPr/>
        </p:nvSpPr>
        <p:spPr>
          <a:xfrm>
            <a:off x="777240" y="44805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BB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Engineering Partner</a:t>
            </a:r>
            <a:endParaRPr lang="en-US" sz="700" dirty="0"/>
          </a:p>
        </p:txBody>
      </p:sp>
      <p:sp>
        <p:nvSpPr>
          <p:cNvPr id="76" name="Shape 68"/>
          <p:cNvSpPr/>
          <p:nvPr/>
        </p:nvSpPr>
        <p:spPr>
          <a:xfrm>
            <a:off x="1645920" y="4343400"/>
            <a:ext cx="7040880" cy="320040"/>
          </a:xfrm>
          <a:prstGeom prst="roundRect">
            <a:avLst>
              <a:gd name="adj" fmla="val 11429"/>
            </a:avLst>
          </a:prstGeom>
          <a:solidFill>
            <a:srgbClr val="E8BB30">
              <a:alpha val="80000"/>
            </a:srgbClr>
          </a:solidFill>
          <a:ln/>
        </p:spPr>
      </p:sp>
      <p:sp>
        <p:nvSpPr>
          <p:cNvPr id="77" name="Text 69"/>
          <p:cNvSpPr/>
          <p:nvPr/>
        </p:nvSpPr>
        <p:spPr>
          <a:xfrm>
            <a:off x="1700784" y="4343400"/>
            <a:ext cx="6931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Ongoing Services — Revenue Engine</a:t>
            </a:r>
            <a:endParaRPr lang="en-US" sz="700" dirty="0"/>
          </a:p>
        </p:txBody>
      </p:sp>
      <p:sp>
        <p:nvSpPr>
          <p:cNvPr id="78" name="Shape 70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12700">
            <a:solidFill>
              <a:srgbClr val="E0E0E8"/>
            </a:solidFill>
            <a:prstDash val="solid"/>
          </a:ln>
        </p:spPr>
      </p:sp>
      <p:sp>
        <p:nvSpPr>
          <p:cNvPr id="79" name="Text 71"/>
          <p:cNvSpPr/>
          <p:nvPr/>
        </p:nvSpPr>
        <p:spPr>
          <a:xfrm>
            <a:off x="0" y="4773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B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Dubai AI Seal Certified  •  SOC 2 Controls  •  ISO 27001 Aligned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A52C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201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Veehive.ai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0" y="256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GTM &amp; Team Plan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2700">
            <a:solidFill>
              <a:srgbClr val="E0E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7772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2C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Building the human team to deploy the AI workforce.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HIRES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3931920" cy="777240"/>
          </a:xfrm>
          <a:prstGeom prst="roundRect">
            <a:avLst>
              <a:gd name="adj" fmla="val 7059"/>
            </a:avLst>
          </a:prstGeom>
          <a:solidFill>
            <a:srgbClr val="F8F8FC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4572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399032"/>
            <a:ext cx="914400" cy="182880"/>
          </a:xfrm>
          <a:prstGeom prst="roundRect">
            <a:avLst>
              <a:gd name="adj" fmla="val 15000"/>
            </a:avLst>
          </a:prstGeom>
          <a:solidFill>
            <a:srgbClr val="DC2626">
              <a:alpha val="1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399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58368" y="16276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Fractional Sales Lead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8368" y="18379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Co-sell via ARKA partnership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286000"/>
            <a:ext cx="3931920" cy="777240"/>
          </a:xfrm>
          <a:prstGeom prst="roundRect">
            <a:avLst>
              <a:gd name="adj" fmla="val 7059"/>
            </a:avLst>
          </a:prstGeom>
          <a:solidFill>
            <a:srgbClr val="F8F8FC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286000"/>
            <a:ext cx="4572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4"/>
          <p:cNvSpPr/>
          <p:nvPr/>
        </p:nvSpPr>
        <p:spPr>
          <a:xfrm>
            <a:off x="658368" y="2359152"/>
            <a:ext cx="914400" cy="182880"/>
          </a:xfrm>
          <a:prstGeom prst="roundRect">
            <a:avLst>
              <a:gd name="adj" fmla="val 15000"/>
            </a:avLst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" y="2359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ENGINEERING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58368" y="25877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AI Native Engineers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8368" y="2798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Full-stack AI product development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3246120"/>
            <a:ext cx="3931920" cy="777240"/>
          </a:xfrm>
          <a:prstGeom prst="roundRect">
            <a:avLst>
              <a:gd name="adj" fmla="val 7059"/>
            </a:avLst>
          </a:prstGeom>
          <a:solidFill>
            <a:srgbClr val="F8F8FC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246120"/>
            <a:ext cx="4572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0"/>
          <p:cNvSpPr/>
          <p:nvPr/>
        </p:nvSpPr>
        <p:spPr>
          <a:xfrm>
            <a:off x="658368" y="3319272"/>
            <a:ext cx="914400" cy="182880"/>
          </a:xfrm>
          <a:prstGeom prst="roundRect">
            <a:avLst>
              <a:gd name="adj" fmla="val 15000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" y="33192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58368" y="35478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Domain / Product Lead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58368" y="37581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Owns roadmap &amp; customer feedback loop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46320" y="1051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46320" y="132588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8F8FC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46320" y="1325880"/>
            <a:ext cx="45720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047488" y="13807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Q4 2026 — Launch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47488" y="161848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workforce goes live (all 4 products)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Activate ARKA co-sell channel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 early adopters in Dubai / GCC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846320" y="242316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8F8FC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46320" y="2423160"/>
            <a:ext cx="45720" cy="960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1"/>
          <p:cNvSpPr/>
          <p:nvPr/>
        </p:nvSpPr>
        <p:spPr>
          <a:xfrm>
            <a:off x="5047488" y="2478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H1 2027 — Grow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47488" y="27157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Feature-by-feature rollout from feedback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 marketing + case studies from beta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Expand to MENA + India markets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846320" y="352044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8F8FC"/>
          </a:solidFill>
          <a:ln w="6350">
            <a:solidFill>
              <a:srgbClr val="EEEE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46320" y="3520440"/>
            <a:ext cx="45720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5"/>
          <p:cNvSpPr/>
          <p:nvPr/>
        </p:nvSpPr>
        <p:spPr>
          <a:xfrm>
            <a:off x="5047488" y="35753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H2 2027 — Scale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47488" y="3813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GTM push across all products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VeehiveLabs revenues fund product growth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Partner channel expansion beyond ARKA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BB3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VeehiveLabs services revenue funds product development through 2027  •  Products reach self-sustaining revenue by H2 2027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65760" y="4709160"/>
            <a:ext cx="8412480" cy="0"/>
          </a:xfrm>
          <a:prstGeom prst="line">
            <a:avLst/>
          </a:prstGeom>
          <a:noFill/>
          <a:ln w="12700">
            <a:solidFill>
              <a:srgbClr val="E0E0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0" y="4773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B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Dubai AI Seal Certified  •  SOC 2 Controls  •  ISO 27001 Aligned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Veehive.ai — Your AI Workforce</dc:title>
  <dc:subject>PptxGenJS Presentation</dc:subject>
  <dc:creator>Veehive.ai</dc:creator>
  <cp:lastModifiedBy>Veehive.ai</cp:lastModifiedBy>
  <cp:revision>1</cp:revision>
  <dcterms:created xsi:type="dcterms:W3CDTF">2026-05-20T05:35:17Z</dcterms:created>
  <dcterms:modified xsi:type="dcterms:W3CDTF">2026-05-20T05:35:17Z</dcterms:modified>
</cp:coreProperties>
</file>